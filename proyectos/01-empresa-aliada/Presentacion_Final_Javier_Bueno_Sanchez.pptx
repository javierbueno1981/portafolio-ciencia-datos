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0e3fcdcf6246da" /><Relationship Type="http://schemas.openxmlformats.org/officeDocument/2006/relationships/extended-properties" Target="/docProps/app.xml" Id="Rd9b39f8210eb4422" /><Relationship Type="http://schemas.openxmlformats.org/officeDocument/2006/relationships/officeDocument" Target="/ppt/presentation.xml" Id="R5cc2299a5fa64c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c3170dc0f249e4"/>
  </p:sldMasterIdLst>
  <p:notesMasterIdLst>
    <p:notesMasterId xmlns:r="http://schemas.openxmlformats.org/officeDocument/2006/relationships" r:id="Rb97ef6a67b104481"/>
  </p:notesMasterIdLst>
  <p:sldIdLst>
    <p:sldId xmlns:r="http://schemas.openxmlformats.org/officeDocument/2006/relationships" id="256" r:id="R4db686a54d694b63"/>
    <p:sldId xmlns:r="http://schemas.openxmlformats.org/officeDocument/2006/relationships" id="257" r:id="R28cc45ca8bff4983"/>
    <p:sldId xmlns:r="http://schemas.openxmlformats.org/officeDocument/2006/relationships" id="258" r:id="Rc54318796af44294"/>
    <p:sldId xmlns:r="http://schemas.openxmlformats.org/officeDocument/2006/relationships" id="259" r:id="R619863df7a9a46ce"/>
    <p:sldId xmlns:r="http://schemas.openxmlformats.org/officeDocument/2006/relationships" id="260" r:id="R9940973f99054017"/>
    <p:sldId xmlns:r="http://schemas.openxmlformats.org/officeDocument/2006/relationships" id="261" r:id="Ra352e40bbb6f4c87"/>
    <p:sldId xmlns:r="http://schemas.openxmlformats.org/officeDocument/2006/relationships" id="262" r:id="R80d1508bde6f4ed2"/>
    <p:sldId xmlns:r="http://schemas.openxmlformats.org/officeDocument/2006/relationships" id="263" r:id="R3f84fbce9d1c40e9"/>
    <p:sldId xmlns:r="http://schemas.openxmlformats.org/officeDocument/2006/relationships" id="264" r:id="R1cd156cf6a744039"/>
    <p:sldId xmlns:r="http://schemas.openxmlformats.org/officeDocument/2006/relationships" id="265" r:id="R9ddaf31d96594fa8"/>
    <p:sldId xmlns:r="http://schemas.openxmlformats.org/officeDocument/2006/relationships" id="266" r:id="R5b3d050080c14e7c"/>
    <p:sldId xmlns:r="http://schemas.openxmlformats.org/officeDocument/2006/relationships" id="267" r:id="R6fff9612a114462e"/>
    <p:sldId xmlns:r="http://schemas.openxmlformats.org/officeDocument/2006/relationships" id="268" r:id="Rfaec3de6fa744eb2"/>
    <p:sldId xmlns:r="http://schemas.openxmlformats.org/officeDocument/2006/relationships" id="269" r:id="Ra4b34e82d9254666"/>
    <p:sldId xmlns:r="http://schemas.openxmlformats.org/officeDocument/2006/relationships" id="270" r:id="R1aabe5899552441e"/>
    <p:sldId xmlns:r="http://schemas.openxmlformats.org/officeDocument/2006/relationships" id="271" r:id="Raef01bd98c8a4fdf"/>
    <p:sldId xmlns:r="http://schemas.openxmlformats.org/officeDocument/2006/relationships" id="272" r:id="R7e07ed7de26e4fcc"/>
    <p:sldId xmlns:r="http://schemas.openxmlformats.org/officeDocument/2006/relationships" id="273" r:id="R37c53a4cab344814"/>
    <p:sldId xmlns:r="http://schemas.openxmlformats.org/officeDocument/2006/relationships" id="274" r:id="Rc68af4efaca44cc3"/>
    <p:sldId xmlns:r="http://schemas.openxmlformats.org/officeDocument/2006/relationships" id="275" r:id="Ra274f63bf3a64140"/>
    <p:sldId xmlns:r="http://schemas.openxmlformats.org/officeDocument/2006/relationships" id="276" r:id="R9978311ab7894ef1"/>
    <p:sldId xmlns:r="http://schemas.openxmlformats.org/officeDocument/2006/relationships" id="277" r:id="R9f76e13fd38249c8"/>
    <p:sldId xmlns:r="http://schemas.openxmlformats.org/officeDocument/2006/relationships" id="278" r:id="Rfeb052140814412e"/>
    <p:sldId xmlns:r="http://schemas.openxmlformats.org/officeDocument/2006/relationships" id="279" r:id="R5ce98956576b43d3"/>
    <p:sldId xmlns:r="http://schemas.openxmlformats.org/officeDocument/2006/relationships" id="280" r:id="R5e4ab40c68724cbb"/>
    <p:sldId xmlns:r="http://schemas.openxmlformats.org/officeDocument/2006/relationships" id="281" r:id="Re06d1b334bc644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a7c8c121fd4e26" /><Relationship Type="http://schemas.openxmlformats.org/officeDocument/2006/relationships/slideMaster" Target="/ppt/slideMasters/slideMaster1.xml" Id="Rfdc3170dc0f249e4" /><Relationship Type="http://schemas.openxmlformats.org/officeDocument/2006/relationships/notesMaster" Target="/ppt/notesMasters/notesMaster1.xml" Id="Rb97ef6a67b104481" /><Relationship Type="http://schemas.openxmlformats.org/officeDocument/2006/relationships/presProps" Target="/ppt/presProps.xml" Id="Ra6374dc486e4457d" /><Relationship Type="http://schemas.openxmlformats.org/officeDocument/2006/relationships/tableStyles" Target="/ppt/tableStyles.xml" Id="R6904a4c8a1eb47ab" /><Relationship Type="http://schemas.openxmlformats.org/officeDocument/2006/relationships/slide" Target="/ppt/slides/slide1.xml" Id="R4db686a54d694b63" /><Relationship Type="http://schemas.openxmlformats.org/officeDocument/2006/relationships/slide" Target="/ppt/slides/slide2.xml" Id="R28cc45ca8bff4983" /><Relationship Type="http://schemas.openxmlformats.org/officeDocument/2006/relationships/slide" Target="/ppt/slides/slide3.xml" Id="Rc54318796af44294" /><Relationship Type="http://schemas.openxmlformats.org/officeDocument/2006/relationships/slide" Target="/ppt/slides/slide4.xml" Id="R619863df7a9a46ce" /><Relationship Type="http://schemas.openxmlformats.org/officeDocument/2006/relationships/slide" Target="/ppt/slides/slide5.xml" Id="R9940973f99054017" /><Relationship Type="http://schemas.openxmlformats.org/officeDocument/2006/relationships/slide" Target="/ppt/slides/slide6.xml" Id="Ra352e40bbb6f4c87" /><Relationship Type="http://schemas.openxmlformats.org/officeDocument/2006/relationships/slide" Target="/ppt/slides/slide7.xml" Id="R80d1508bde6f4ed2" /><Relationship Type="http://schemas.openxmlformats.org/officeDocument/2006/relationships/slide" Target="/ppt/slides/slide8.xml" Id="R3f84fbce9d1c40e9" /><Relationship Type="http://schemas.openxmlformats.org/officeDocument/2006/relationships/slide" Target="/ppt/slides/slide9.xml" Id="R1cd156cf6a744039" /><Relationship Type="http://schemas.openxmlformats.org/officeDocument/2006/relationships/slide" Target="/ppt/slides/slide10.xml" Id="R9ddaf31d96594fa8" /><Relationship Type="http://schemas.openxmlformats.org/officeDocument/2006/relationships/slide" Target="/ppt/slides/slide11.xml" Id="R5b3d050080c14e7c" /><Relationship Type="http://schemas.openxmlformats.org/officeDocument/2006/relationships/slide" Target="/ppt/slides/slide12.xml" Id="R6fff9612a114462e" /><Relationship Type="http://schemas.openxmlformats.org/officeDocument/2006/relationships/slide" Target="/ppt/slides/slide13.xml" Id="Rfaec3de6fa744eb2" /><Relationship Type="http://schemas.openxmlformats.org/officeDocument/2006/relationships/slide" Target="/ppt/slides/slide14.xml" Id="Ra4b34e82d9254666" /><Relationship Type="http://schemas.openxmlformats.org/officeDocument/2006/relationships/slide" Target="/ppt/slides/slide15.xml" Id="R1aabe5899552441e" /><Relationship Type="http://schemas.openxmlformats.org/officeDocument/2006/relationships/slide" Target="/ppt/slides/slide16.xml" Id="Raef01bd98c8a4fdf" /><Relationship Type="http://schemas.openxmlformats.org/officeDocument/2006/relationships/slide" Target="/ppt/slides/slide17.xml" Id="R7e07ed7de26e4fcc" /><Relationship Type="http://schemas.openxmlformats.org/officeDocument/2006/relationships/slide" Target="/ppt/slides/slide18.xml" Id="R37c53a4cab344814" /><Relationship Type="http://schemas.openxmlformats.org/officeDocument/2006/relationships/slide" Target="/ppt/slides/slide19.xml" Id="Rc68af4efaca44cc3" /><Relationship Type="http://schemas.openxmlformats.org/officeDocument/2006/relationships/slide" Target="/ppt/slides/slide20.xml" Id="Ra274f63bf3a64140" /><Relationship Type="http://schemas.openxmlformats.org/officeDocument/2006/relationships/slide" Target="/ppt/slides/slide21.xml" Id="R9978311ab7894ef1" /><Relationship Type="http://schemas.openxmlformats.org/officeDocument/2006/relationships/slide" Target="/ppt/slides/slide22.xml" Id="R9f76e13fd38249c8" /><Relationship Type="http://schemas.openxmlformats.org/officeDocument/2006/relationships/slide" Target="/ppt/slides/slide23.xml" Id="Rfeb052140814412e" /><Relationship Type="http://schemas.openxmlformats.org/officeDocument/2006/relationships/slide" Target="/ppt/slides/slide24.xml" Id="R5ce98956576b43d3" /><Relationship Type="http://schemas.openxmlformats.org/officeDocument/2006/relationships/slide" Target="/ppt/slides/slide25.xml" Id="R5e4ab40c68724cbb" /><Relationship Type="http://schemas.openxmlformats.org/officeDocument/2006/relationships/slide" Target="/ppt/slides/slide26.xml" Id="Re06d1b334bc644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b5563132e14b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ef6cac07c34391" /><Relationship Type="http://schemas.openxmlformats.org/officeDocument/2006/relationships/notesMaster" Target="/ppt/notesMasters/notesMaster1.xml" Id="R549a46a29c8b42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60237d411d4d8a" /><Relationship Type="http://schemas.openxmlformats.org/officeDocument/2006/relationships/notesMaster" Target="/ppt/notesMasters/notesMaster1.xml" Id="R2c7155ee31f74d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c3b02e06b94c36" /><Relationship Type="http://schemas.openxmlformats.org/officeDocument/2006/relationships/notesMaster" Target="/ppt/notesMasters/notesMaster1.xml" Id="Rb1d0334233674c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6cc83e37ef4c5a" /><Relationship Type="http://schemas.openxmlformats.org/officeDocument/2006/relationships/notesMaster" Target="/ppt/notesMasters/notesMaster1.xml" Id="Rf85d8210016948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6352e41a654fa1" /><Relationship Type="http://schemas.openxmlformats.org/officeDocument/2006/relationships/notesMaster" Target="/ppt/notesMasters/notesMaster1.xml" Id="R0bad3215c60148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7b30989ee14838" /><Relationship Type="http://schemas.openxmlformats.org/officeDocument/2006/relationships/notesMaster" Target="/ppt/notesMasters/notesMaster1.xml" Id="R1ad1dce0259348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fcd716d2144da8" /><Relationship Type="http://schemas.openxmlformats.org/officeDocument/2006/relationships/notesMaster" Target="/ppt/notesMasters/notesMaster1.xml" Id="Rcf7f44fe926640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7f0c7dfab74dfd" /><Relationship Type="http://schemas.openxmlformats.org/officeDocument/2006/relationships/notesMaster" Target="/ppt/notesMasters/notesMaster1.xml" Id="R48c0ba5db7fd48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11ecc64afa47fb" /><Relationship Type="http://schemas.openxmlformats.org/officeDocument/2006/relationships/notesMaster" Target="/ppt/notesMasters/notesMaster1.xml" Id="Rb685138c0ea54c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f1abd3938b4f7a" /><Relationship Type="http://schemas.openxmlformats.org/officeDocument/2006/relationships/notesMaster" Target="/ppt/notesMasters/notesMaster1.xml" Id="Recd10d9eb4ee41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111e4d9f6e4ecc" /><Relationship Type="http://schemas.openxmlformats.org/officeDocument/2006/relationships/notesMaster" Target="/ppt/notesMasters/notesMaster1.xml" Id="Rf3d53e8dea2048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3e0ae325f84365" /><Relationship Type="http://schemas.openxmlformats.org/officeDocument/2006/relationships/notesMaster" Target="/ppt/notesMasters/notesMaster1.xml" Id="R50317a0d780446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a768e6941e4e79" /><Relationship Type="http://schemas.openxmlformats.org/officeDocument/2006/relationships/notesMaster" Target="/ppt/notesMasters/notesMaster1.xml" Id="R7f6984c31cd448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84d608ae3a4f9d" /><Relationship Type="http://schemas.openxmlformats.org/officeDocument/2006/relationships/notesMaster" Target="/ppt/notesMasters/notesMaster1.xml" Id="Rce716a9ddd324a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3bb2020aad439a" /><Relationship Type="http://schemas.openxmlformats.org/officeDocument/2006/relationships/notesMaster" Target="/ppt/notesMasters/notesMaster1.xml" Id="R01b057039dc04c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266930a6204788" /><Relationship Type="http://schemas.openxmlformats.org/officeDocument/2006/relationships/notesMaster" Target="/ppt/notesMasters/notesMaster1.xml" Id="R6b8aa3141cbe45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b646cb868f47c0" /><Relationship Type="http://schemas.openxmlformats.org/officeDocument/2006/relationships/notesMaster" Target="/ppt/notesMasters/notesMaster1.xml" Id="R2447001fde6d4d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44d985a2c4454f" /><Relationship Type="http://schemas.openxmlformats.org/officeDocument/2006/relationships/notesMaster" Target="/ppt/notesMasters/notesMaster1.xml" Id="R7c81a156a81647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ccaf7438b414cf2" /><Relationship Type="http://schemas.openxmlformats.org/officeDocument/2006/relationships/notesMaster" Target="/ppt/notesMasters/notesMaster1.xml" Id="Rcdeb9755a7f44d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b8ef50752e64a9f" /><Relationship Type="http://schemas.openxmlformats.org/officeDocument/2006/relationships/notesMaster" Target="/ppt/notesMasters/notesMaster1.xml" Id="R8849a5559fb7409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59da3497eb54b86" /><Relationship Type="http://schemas.openxmlformats.org/officeDocument/2006/relationships/notesMaster" Target="/ppt/notesMasters/notesMaster1.xml" Id="R90b044b672b349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05b5dd028854604" /><Relationship Type="http://schemas.openxmlformats.org/officeDocument/2006/relationships/notesMaster" Target="/ppt/notesMasters/notesMaster1.xml" Id="R237e0a315c924ed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e8837fd39b941f1" /><Relationship Type="http://schemas.openxmlformats.org/officeDocument/2006/relationships/notesMaster" Target="/ppt/notesMasters/notesMaster1.xml" Id="R9cc622836905438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9eac1e1a2594c87" /><Relationship Type="http://schemas.openxmlformats.org/officeDocument/2006/relationships/notesMaster" Target="/ppt/notesMasters/notesMaster1.xml" Id="Rdcf365eaa8104c2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761fa317db14e2a" /><Relationship Type="http://schemas.openxmlformats.org/officeDocument/2006/relationships/notesMaster" Target="/ppt/notesMasters/notesMaster1.xml" Id="Ra03a5c6c2e1c40b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55042fbc9c44a5c" /><Relationship Type="http://schemas.openxmlformats.org/officeDocument/2006/relationships/notesMaster" Target="/ppt/notesMasters/notesMaster1.xml" Id="R6ba0cac027cb4e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Reproducción de la metodología del entregable 3. KMeans(random_state=42,n_init=20). Se evalúan k de 2 a 8. Un artículo sin unidades queda excluido solo del clustering. La silueta máxima y el codo respaldan k=4.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Tarea M42 CD Proyecto empresa aliada entregable 4 Javier Bueno Sánchez..pdf, página 1. Imágenes originales extraídas del documento. No se afirma una nueva ejecución de SQL Server en esta sesión.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entregable 4, página 3. El ejemplo SQL mantiene el filtro que impide sumar áreas y agregado nacional.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captura del usuario del 18 de octubre de 2026, 09:04:47. PBIX adjunto: Entregable_5_PowerBI.pbix. No hay URL publicada confirmada. Los indicadores usan la unidad original del archivo.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captura del usuario del 18 de octubre de 2026, 09:04:39. La página excluye el agregado nacional. Los escenarios del PBIX proceden del entregable anterior y no sustituyen el protocolo de validación de la entrega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Asignación autorizada para el ejercicio: Área 1 Quintana Roo, 2 Estado de México, 3 Querétaro, 4 Chihuahua, 5 Jalisco, 6 Michoacán. No equivale a la cobertura real del dataset. Captura real del usuario del 18 de octubre de 2026, 17:43:54 UTC.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datos originales de FACT_SALES y dimensiones. Cálculos reproducibles en el notebook adjunto. Valores en la unidad original de la fuente.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f4ce599c041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a7f66828148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d9f43af22943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3e178fa9944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eb88c027747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6499bbd4546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1172A9-8F8A-4061-A984-AEBF359A37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0EAED2-2106-49F9-9E93-D2334C1682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2A9110-F00F-4B03-8670-66B9A0A36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DDDB27-FE5B-4B8D-86EE-1348CE054E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635774-CD62-4293-AF06-FD6F0FEE53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519913-7550-4A6F-9D0B-69754227FC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CBD757-3D2C-42A0-A15D-DA89AE486C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140430-A3B0-4CD6-921D-9ECC25CF57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0D7833-7F5A-4242-BDE7-45E96E94E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AA1CA3-A31D-44BB-B656-10A47B69D1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22710da96143fa" /><Relationship Type="http://schemas.openxmlformats.org/officeDocument/2006/relationships/slideLayout" Target="/ppt/slideLayouts/slideLayout1.xml" Id="R13e1d1378e144f2c" /><Relationship Type="http://schemas.openxmlformats.org/officeDocument/2006/relationships/slideLayout" Target="/ppt/slideLayouts/slideLayout2.xml" Id="Rd2dcb8f54f0e4ba4" /><Relationship Type="http://schemas.openxmlformats.org/officeDocument/2006/relationships/slideLayout" Target="/ppt/slideLayouts/slideLayout3.xml" Id="R1cd51d63d0cd4823" /><Relationship Type="http://schemas.openxmlformats.org/officeDocument/2006/relationships/slideLayout" Target="/ppt/slideLayouts/slideLayout4.xml" Id="R3d34197735c04a16" /><Relationship Type="http://schemas.openxmlformats.org/officeDocument/2006/relationships/slideLayout" Target="/ppt/slideLayouts/slideLayout5.xml" Id="Raf1e8767540c49c5" /><Relationship Type="http://schemas.openxmlformats.org/officeDocument/2006/relationships/slideLayout" Target="/ppt/slideLayouts/slideLayout6.xml" Id="Re989a19514594d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e1d1378e144f2c"/>
    <p:sldLayoutId xmlns:r="http://schemas.openxmlformats.org/officeDocument/2006/relationships" id="2147483650" r:id="Rd2dcb8f54f0e4ba4"/>
    <p:sldLayoutId xmlns:r="http://schemas.openxmlformats.org/officeDocument/2006/relationships" id="2147483651" r:id="R1cd51d63d0cd4823"/>
    <p:sldLayoutId xmlns:r="http://schemas.openxmlformats.org/officeDocument/2006/relationships" id="2147483652" r:id="R3d34197735c04a16"/>
    <p:sldLayoutId xmlns:r="http://schemas.openxmlformats.org/officeDocument/2006/relationships" id="2147483653" r:id="Raf1e8767540c49c5"/>
    <p:sldLayoutId xmlns:r="http://schemas.openxmlformats.org/officeDocument/2006/relationships" id="2147483654" r:id="Re989a19514594d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baf2b9ee0b4a56" /><Relationship Type="http://schemas.openxmlformats.org/officeDocument/2006/relationships/notesSlide" Target="/ppt/notesSlides/notesSlide1.xml" Id="R6488e5006bc142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7c7446e17445d" /><Relationship Type="http://schemas.openxmlformats.org/officeDocument/2006/relationships/notesSlide" Target="/ppt/notesSlides/notesSlide2.xml" Id="R6aecc5b5564b4e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372cc8a1be41de" /><Relationship Type="http://schemas.openxmlformats.org/officeDocument/2006/relationships/notesSlide" Target="/ppt/notesSlides/notesSlide3.xml" Id="R75ebc8afdf9249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cadd0d53314724" /><Relationship Type="http://schemas.openxmlformats.org/officeDocument/2006/relationships/notesSlide" Target="/ppt/notesSlides/notesSlide4.xml" Id="R74f5438d44524f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e184229904f13" /><Relationship Type="http://schemas.openxmlformats.org/officeDocument/2006/relationships/image" Target="/ppt/media/image.png" Id="R993d0d5400b2472d" /><Relationship Type="http://schemas.openxmlformats.org/officeDocument/2006/relationships/notesSlide" Target="/ppt/notesSlides/notesSlide5.xml" Id="Rb0baf466b19141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b176e3ee544f4a" /><Relationship Type="http://schemas.openxmlformats.org/officeDocument/2006/relationships/image" Target="/ppt/media/image2.png" Id="Rc39f1172e01a41ad" /><Relationship Type="http://schemas.openxmlformats.org/officeDocument/2006/relationships/notesSlide" Target="/ppt/notesSlides/notesSlide6.xml" Id="Ra83e46bc000446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7ac1e4378643c0" /><Relationship Type="http://schemas.openxmlformats.org/officeDocument/2006/relationships/chart" Target="/ppt/slides/charts/chart1.xml" Id="R61fdf040927a4599" /><Relationship Type="http://schemas.openxmlformats.org/officeDocument/2006/relationships/chart" Target="/ppt/slides/charts/chart2.xml" Id="R4d6dfd3f91c0426f" /><Relationship Type="http://schemas.openxmlformats.org/officeDocument/2006/relationships/notesSlide" Target="/ppt/notesSlides/notesSlide7.xml" Id="Rd98ea04c040946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9ebc636f1d468c" /><Relationship Type="http://schemas.openxmlformats.org/officeDocument/2006/relationships/image" Target="/ppt/media/image3.png" Id="R51ab94e0e6ef400d" /><Relationship Type="http://schemas.openxmlformats.org/officeDocument/2006/relationships/notesSlide" Target="/ppt/notesSlides/notesSlide8.xml" Id="Rb7a9969450d946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4be4aec024d82" /><Relationship Type="http://schemas.openxmlformats.org/officeDocument/2006/relationships/image" Target="/ppt/media/image4.png" Id="R717b064ab94645fb" /><Relationship Type="http://schemas.openxmlformats.org/officeDocument/2006/relationships/notesSlide" Target="/ppt/notesSlides/notesSlide9.xml" Id="R33343b82b1d943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5a597c21d4eae" /><Relationship Type="http://schemas.openxmlformats.org/officeDocument/2006/relationships/image" Target="/ppt/media/image5.png" Id="Ra8b05369646e47bb" /><Relationship Type="http://schemas.openxmlformats.org/officeDocument/2006/relationships/notesSlide" Target="/ppt/notesSlides/notesSlide10.xml" Id="R02d711e7dc6b4d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440c89ad7344b2" /><Relationship Type="http://schemas.openxmlformats.org/officeDocument/2006/relationships/image" Target="/ppt/media/image6.png" Id="R82fc713827cb44a6" /><Relationship Type="http://schemas.openxmlformats.org/officeDocument/2006/relationships/notesSlide" Target="/ppt/notesSlides/notesSlide11.xml" Id="R61f6910428a44d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d2f94fc524e7e" /><Relationship Type="http://schemas.openxmlformats.org/officeDocument/2006/relationships/notesSlide" Target="/ppt/notesSlides/notesSlide12.xml" Id="Rce749750e8d54b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d51ec569fa4de1" /><Relationship Type="http://schemas.openxmlformats.org/officeDocument/2006/relationships/image" Target="/ppt/media/image7.png" Id="Ra49c16babf0b425c" /><Relationship Type="http://schemas.openxmlformats.org/officeDocument/2006/relationships/image" Target="/ppt/media/image8.png" Id="R352ddf8378624aab" /><Relationship Type="http://schemas.openxmlformats.org/officeDocument/2006/relationships/notesSlide" Target="/ppt/notesSlides/notesSlide13.xml" Id="R9d56a9a6ab7f49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b43dd347e43a5" /><Relationship Type="http://schemas.openxmlformats.org/officeDocument/2006/relationships/image" Target="/ppt/media/image9.png" Id="R72310910cc0a4fc4" /><Relationship Type="http://schemas.openxmlformats.org/officeDocument/2006/relationships/image" Target="/ppt/media/image10.png" Id="R42d2626235654f81" /><Relationship Type="http://schemas.openxmlformats.org/officeDocument/2006/relationships/notesSlide" Target="/ppt/notesSlides/notesSlide14.xml" Id="Rb9cb54779dcb4e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061136200495b" /><Relationship Type="http://schemas.openxmlformats.org/officeDocument/2006/relationships/image" Target="/ppt/media/image11.png" Id="Reaec125acabc44f2" /><Relationship Type="http://schemas.openxmlformats.org/officeDocument/2006/relationships/notesSlide" Target="/ppt/notesSlides/notesSlide15.xml" Id="R7945fe08dbb547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5991edae14a66" /><Relationship Type="http://schemas.openxmlformats.org/officeDocument/2006/relationships/image" Target="/ppt/media/image12.png" Id="Rfc22bd0f76b54d54" /><Relationship Type="http://schemas.openxmlformats.org/officeDocument/2006/relationships/notesSlide" Target="/ppt/notesSlides/notesSlide16.xml" Id="R2c55d71660694c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653b3f008494a" /><Relationship Type="http://schemas.openxmlformats.org/officeDocument/2006/relationships/image" Target="/ppt/media/image13.png" Id="R10da65a0583347ca" /><Relationship Type="http://schemas.openxmlformats.org/officeDocument/2006/relationships/notesSlide" Target="/ppt/notesSlides/notesSlide17.xml" Id="R3ee026a9dc9f49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2841514e84f45" /><Relationship Type="http://schemas.openxmlformats.org/officeDocument/2006/relationships/notesSlide" Target="/ppt/notesSlides/notesSlide18.xml" Id="Rb6cd416759ec40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4691efc54147ea" /><Relationship Type="http://schemas.openxmlformats.org/officeDocument/2006/relationships/notesSlide" Target="/ppt/notesSlides/notesSlide19.xml" Id="Rdada6f219a2849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3d35fd7b14486c" /><Relationship Type="http://schemas.openxmlformats.org/officeDocument/2006/relationships/notesSlide" Target="/ppt/notesSlides/notesSlide20.xml" Id="R1093d348e15443f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ec70de1a334362" /><Relationship Type="http://schemas.openxmlformats.org/officeDocument/2006/relationships/notesSlide" Target="/ppt/notesSlides/notesSlide21.xml" Id="R7fc4236d1fc14ac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52b7303d934c73" /><Relationship Type="http://schemas.openxmlformats.org/officeDocument/2006/relationships/image" Target="/ppt/media/image14.png" Id="R51a9104da9f6422b" /><Relationship Type="http://schemas.openxmlformats.org/officeDocument/2006/relationships/notesSlide" Target="/ppt/notesSlides/notesSlide22.xml" Id="R00727e8c0577482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216ec5c034616" /><Relationship Type="http://schemas.openxmlformats.org/officeDocument/2006/relationships/image" Target="/ppt/media/image15.png" Id="Raf09fde0012d4530" /><Relationship Type="http://schemas.openxmlformats.org/officeDocument/2006/relationships/notesSlide" Target="/ppt/notesSlides/notesSlide23.xml" Id="Rab4ad293b994412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cec07d8ea3445d" /><Relationship Type="http://schemas.openxmlformats.org/officeDocument/2006/relationships/notesSlide" Target="/ppt/notesSlides/notesSlide24.xml" Id="Rbeb7ff97e85f4a3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c3417cf724cfc" /><Relationship Type="http://schemas.openxmlformats.org/officeDocument/2006/relationships/notesSlide" Target="/ppt/notesSlides/notesSlide25.xml" Id="Rd33d55cf292b49d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b5abf51d00412c" /><Relationship Type="http://schemas.openxmlformats.org/officeDocument/2006/relationships/notesSlide" Target="/ppt/notesSlides/notesSlide26.xml" Id="R08d23e0ddeeb4fc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Participación %</c:v>
          </c:tx>
          <c:spPr>
            <a:solidFill xmlns:a="http://schemas.openxmlformats.org/drawingml/2006/main">
              <a:srgbClr val="3A7BD5"/>
            </a:solidFill>
          </c:spPr>
          <c:invertIfNegative val="0"/>
          <c:cat>
            <c:strLit>
              <c:ptCount val="5"/>
              <c:pt idx="0">
                <c:v>CLORALEX</c:v>
              </c:pt>
              <c:pt idx="1">
                <c:v>VANISH</c:v>
              </c:pt>
              <c:pt idx="2">
                <c:v>CLOROX</c:v>
              </c:pt>
              <c:pt idx="3">
                <c:v>BLANCATEL</c:v>
              </c:pt>
              <c:pt idx="4">
                <c:v>OXI CLEAN</c:v>
              </c:pt>
            </c:strLit>
          </c:cat>
          <c:val>
            <c:numLit>
              <c:formatCode>0.0</c:formatCode>
              <c:ptCount val="5"/>
              <c:pt idx="0">
                <c:v>48.84259157735627</c:v>
              </c:pt>
              <c:pt idx="1">
                <c:v>19.635217715691052</c:v>
              </c:pt>
              <c:pt idx="2">
                <c:v>12.42206952673624</c:v>
              </c:pt>
              <c:pt idx="3">
                <c:v>5.908651222216496</c:v>
              </c:pt>
              <c:pt idx="4">
                <c:v>3.957042739071049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63238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EFF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Participación %</c:v>
          </c:tx>
          <c:spPr>
            <a:solidFill xmlns:a="http://schemas.openxmlformats.org/drawingml/2006/main">
              <a:srgbClr val="6E7A89"/>
            </a:solidFill>
          </c:spPr>
          <c:invertIfNegative val="0"/>
          <c:cat>
            <c:strLit>
              <c:ptCount val="6"/>
              <c:pt idx="0">
                <c:v>AREA 2</c:v>
              </c:pt>
              <c:pt idx="1">
                <c:v>AREA 5</c:v>
              </c:pt>
              <c:pt idx="2">
                <c:v>AREA 6</c:v>
              </c:pt>
              <c:pt idx="3">
                <c:v>AREA 3</c:v>
              </c:pt>
              <c:pt idx="4">
                <c:v>AREA 1</c:v>
              </c:pt>
              <c:pt idx="5">
                <c:v>AREA 4</c:v>
              </c:pt>
            </c:strLit>
          </c:cat>
          <c:val>
            <c:numLit>
              <c:formatCode>0.0</c:formatCode>
              <c:ptCount val="6"/>
              <c:pt idx="0">
                <c:v>21.53058223376487</c:v>
              </c:pt>
              <c:pt idx="1">
                <c:v>20.888346285469087</c:v>
              </c:pt>
              <c:pt idx="2">
                <c:v>17.820699871000624</c:v>
              </c:pt>
              <c:pt idx="3">
                <c:v>14.555201344555602</c:v>
              </c:pt>
              <c:pt idx="4">
                <c:v>12.935958707743405</c:v>
              </c:pt>
              <c:pt idx="5">
                <c:v>12.269211557466413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63238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EFF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7C18D-876B-47A3-BCF6-5496F596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Ventas y pronóstico</a:t>
            </a:r>
          </a:p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de productos de consumo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E86E4-C5F2-44E0-B0AF-4BED53B4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Entrega final de Ciencia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17969-4626-4135-9D11-548564AF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75115-8C29-4275-AD32-29EAF445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FCE03-AF1D-4AED-8F28-53C5EDD5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3A7BD5"/>
                </a:solidFill>
                <a:latin typeface="DejaVu Sans"/>
                <a:ea typeface="DejaVu Sans"/>
                <a:cs typeface="DejaVu Sans"/>
              </a:rPr>
              <a:t>Javier Bueno Sánchez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7920D-BE95-41DC-80A2-F182AFFD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SQL Server, Python y Power BI</a:t>
            </a:r>
          </a:p>
          <a:p xmlns:a="http://schemas.openxmlformats.org/drawingml/2006/main">
            <a:pPr>
              <a:defRPr sz="22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Histórico: enero de 2022 a julio de 2023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72B2E-81C2-4E44-BA54-2938694F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18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255621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C2F4C-5146-45FD-BA8E-BCF50996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Objetivo y relevancia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75F70-A696-4A30-95BF-20AF0ED4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Decisiones sobre surtido, cobertura comercial y planeación de ventas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2D34A-9336-4429-8CDC-6D62EEA3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C62F7-C6C6-4BCB-A3D5-6C5481F8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BB556-2C26-42EB-A6BB-981D28C4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rPr>
              <a:t>Pregunta de negocio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C65D2-3FC6-4817-8A8D-FFC3CFA7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714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¿Dónde se concentra la venta y qué ritmo semanal puede esperarse para Vanish y Lysol?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295A5-5C31-4E61-8613-C4746330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rPr>
              <a:t>Herramientas y función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DB440-D1A6-483E-B9E7-1687C492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5334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Python: calidad, exploración, clustering y modelos.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SQL Server: integración y consultas de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Power BI: consulta interactiva del desempeño.</a:t>
            </a:r>
          </a:p>
        </p:txBody>
      </p:sp>
    </p:spTree>
    <p:extLst>
      <p:ext uri="{BB962C8B-B14F-4D97-AF65-F5344CB8AC3E}">
        <p14:creationId xmlns:p14="http://schemas.microsoft.com/office/powerpoint/2010/main" val="25659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DF7F5-7F78-4AB9-B2C0-1977C9D5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Base de datos y alcance del análisis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D4716-68B2-4B48-A9C4-617671CF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Cinco tablas de origen con claves de producto, semana y atributos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AEB5A-A08A-4C1C-A4C3-F377D672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9075B-C5A7-4338-8768-713757E3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58B56-A902-49B6-91FC-E9B6D264A750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305300"/>
              </a:tblGrid>
              <a:tr h="595313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</a:tr>
              <a:tr h="59531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Registros de ventas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122,002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9531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Catálogo válido / productos con ventas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503 / 350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Semanas observadas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9531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Áreas / agregado nacional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Categorías con ventas / en catálogo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/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3E1A7-9518-4FCF-AD45-49270BA9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La fuente no documenta moneda ni escala. Los valores mantienen su unidad original.</a:t>
            </a:r>
          </a:p>
        </p:txBody>
      </p:sp>
    </p:spTree>
    <p:extLst>
      <p:ext uri="{BB962C8B-B14F-4D97-AF65-F5344CB8AC3E}">
        <p14:creationId xmlns:p14="http://schemas.microsoft.com/office/powerpoint/2010/main" val="24616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7C079-7A69-4625-8EF5-D39B9891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Limpieza y consolidación en Pandas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EC311-48C8-4D5D-9B49-5F02E38A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Validaciones antes de transformar y unir las tablas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99ADF-0D8E-4E2A-9980-5E745383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A72F8-030E-4F3E-B92E-3195B44B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178CD-68EE-4D01-BA83-06CCF1B3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rPr>
              <a:t>Tratamiento aplicado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152A8-882F-46F3-B95D-99AB192A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429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Dos productos sin ITEM quedan separados.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Identificadores en texto conservan ceros y sufijos.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Espacios, categorías y fechas estandarizados.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Las uniones conservan los 122,002 hechos.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EFA97-847A-4E83-B65D-64478B45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43125"/>
            <a:ext cx="5857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p = p.dropna(subset=['ITEM'])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assert p.ITEM.is_unique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assert t.WEEK.is_unique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d = f.merge(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    p, left_on='ITEM_CODE',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    right_on='ITEM',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    validate='many_to_one'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assert len(d) == len(f)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F5122-7D47-463E-A142-CD0660FC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15000"/>
            <a:ext cx="585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La clave compuesta de DIM_SEGMENT evita multiplicar ventas en la unión por atributos.</a:t>
            </a:r>
          </a:p>
        </p:txBody>
      </p:sp>
    </p:spTree>
    <p:extLst>
      <p:ext uri="{BB962C8B-B14F-4D97-AF65-F5344CB8AC3E}">
        <p14:creationId xmlns:p14="http://schemas.microsoft.com/office/powerpoint/2010/main" val="2131617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FC8A9-1AF8-4B0B-9F4C-A2AA9408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Distribución de ventas y valores atípicos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FE55D-9404-4527-859C-7E186730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La única categoría observada limita la comparación entre categorías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ABE3A-281F-46DA-9DEC-C299CCF4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27792-9D07-4D1C-AA95-F8D164F2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FFAAB-7E78-4A10-9160-AD0D01E668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d0d5400b2472d"/>
          <a:stretch xmlns:a="http://schemas.openxmlformats.org/drawingml/2006/main"/>
        </p:blipFill>
        <p:spPr>
          <a:xfrm xmlns:a="http://schemas.openxmlformats.org/drawingml/2006/main">
            <a:off x="609600" y="1943530"/>
            <a:ext cx="10972800" cy="354244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0AF53-E8BD-4790-B66A-81463319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La distribución es asimétrica. IQR identifica casos para revisar y los extremos permanecen en la base.</a:t>
            </a:r>
          </a:p>
        </p:txBody>
      </p:sp>
    </p:spTree>
    <p:extLst>
      <p:ext uri="{BB962C8B-B14F-4D97-AF65-F5344CB8AC3E}">
        <p14:creationId xmlns:p14="http://schemas.microsoft.com/office/powerpoint/2010/main" val="10455993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2B3DC-F92E-4389-909E-1DCE2719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Dispersión regional y revisión de atípicos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CD198-143B-4CB1-AC2F-AF9F075B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Vanish y Lysol muestran escalas y distribuciones distintas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9D6C7-C903-42E0-85D6-528F38C7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A9BEC-58A0-4A60-974C-DFD2438A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FE152-51E4-4A62-8592-9BB3D8C6BD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f1172e01a41ad"/>
          <a:stretch xmlns:a="http://schemas.openxmlformats.org/drawingml/2006/main"/>
        </p:blipFill>
        <p:spPr>
          <a:xfrm xmlns:a="http://schemas.openxmlformats.org/drawingml/2006/main">
            <a:off x="609600" y="1955594"/>
            <a:ext cx="10972800" cy="351831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AC72B-6CBC-46AD-9A3C-8D807C7A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Un valor alto puede reflejar volumen comercial. Los gráficos por sí solos no prueban un error.</a:t>
            </a:r>
          </a:p>
        </p:txBody>
      </p:sp>
    </p:spTree>
    <p:extLst>
      <p:ext uri="{BB962C8B-B14F-4D97-AF65-F5344CB8AC3E}">
        <p14:creationId xmlns:p14="http://schemas.microsoft.com/office/powerpoint/2010/main" val="17192019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96782-948A-4D46-965C-8E831078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Concentración comercial por marca y área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A43DF-5620-4E17-AAF3-38C2A1AD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Participación en valor de ventas del periodo observado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ED80B-FDB2-4239-95DA-F4A47B04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5A771-41C8-4924-BB0E-9B66C5F0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27084-A3A7-4113-A5CE-3FAE13C3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rPr>
              <a:t>Marcas principales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D4B18-245B-44EA-A7BF-74A3418F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3A7BD5"/>
                </a:solidFill>
                <a:latin typeface="DejaVu Sans"/>
                <a:ea typeface="DejaVu Sans"/>
                <a:cs typeface="DejaVu Sans"/>
              </a:rPr>
              <a:t>Seis áreas, sin agregado nacional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7C86B6BA-76CD-49DF-8933-736138A5619A}"/>
              </a:ext>
            </a:extLst>
          </p:cNvPr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50958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fdf040927a4599"/>
          </a:graphicData>
        </a:graphic>
      </p:graphicFrame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1F553EFF-C89E-4EA9-BBA9-A9651C3E8A68}"/>
              </a:ext>
            </a:extLst>
          </p:cNvPr>
          <p:cNvGraphicFramePr/>
          <p:nvPr/>
        </p:nvGraphicFramePr>
        <p:xfrm>
          <a:off xmlns:a="http://schemas.openxmlformats.org/drawingml/2006/main" x="6334125" y="2286000"/>
          <a:ext xmlns:a="http://schemas.openxmlformats.org/drawingml/2006/main" cx="519112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6dfd3f91c0426f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53420-C742-4903-8882-24E5D47F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Vanish representa 19.6% y Lysol 0.64% del valor nacional. Bleach aporta 68.7%.</a:t>
            </a:r>
          </a:p>
        </p:txBody>
      </p:sp>
    </p:spTree>
    <p:extLst>
      <p:ext uri="{BB962C8B-B14F-4D97-AF65-F5344CB8AC3E}">
        <p14:creationId xmlns:p14="http://schemas.microsoft.com/office/powerpoint/2010/main" val="9203934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14BB2-1783-4BA0-AF20-EACB9DA5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Evolución semanal de Vanish y Lysol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AAB4C-C26E-4F11-BED1-1A3AF8D1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Agregado nacional con etiquetas de marca exactas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0C408-0A05-40B2-A6E2-5388C51D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A308A-FEC4-4A19-B423-5519F2AC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0F2FA-35CD-4286-8559-8F4853B366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b94e0e6ef400d"/>
          <a:stretch xmlns:a="http://schemas.openxmlformats.org/drawingml/2006/main"/>
        </p:blipFill>
        <p:spPr>
          <a:xfrm xmlns:a="http://schemas.openxmlformats.org/drawingml/2006/main">
            <a:off x="2119993" y="1762125"/>
            <a:ext cx="7952014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68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46E6F-2938-4CFD-B3E6-456B7ADC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Promedio semanal por 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208BC-3DEE-47E4-BAD2-C23563C1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El promedio semanal controla meses de distinta duración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437FC-FD8C-4584-B1DE-81A894E0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37C0A-D36B-483E-8876-9B8F9E78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BA20D-73B7-473F-83C9-BA0D98E188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b064ab94645fb"/>
          <a:stretch xmlns:a="http://schemas.openxmlformats.org/drawingml/2006/main"/>
        </p:blipFill>
        <p:spPr>
          <a:xfrm xmlns:a="http://schemas.openxmlformats.org/drawingml/2006/main">
            <a:off x="964424" y="1857375"/>
            <a:ext cx="10263153" cy="3619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C1BFA-613B-4DCF-876D-A79F5246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Julio de 2023 contiene solo tres semanas observadas. Su acumulado no debe compararse directamente con meses completos.</a:t>
            </a:r>
          </a:p>
        </p:txBody>
      </p:sp>
    </p:spTree>
    <p:extLst>
      <p:ext uri="{BB962C8B-B14F-4D97-AF65-F5344CB8AC3E}">
        <p14:creationId xmlns:p14="http://schemas.microsoft.com/office/powerpoint/2010/main" val="1629282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11446-EF0D-43AD-98BD-5B0BEA2A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K-Means: cuatro perfiles de productos Vanish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9204B-EB31-4CB4-BF01-A59F1B60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76 productos válidos de 77 observados. Silueta máxima: 0.4934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05733-C93B-4CFC-9CEB-7D6EE5A0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B159A-0693-48B8-8D31-C58BB584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61EFA-F120-4837-A73F-A96044734E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05369646e47bb"/>
          <a:stretch xmlns:a="http://schemas.openxmlformats.org/drawingml/2006/main"/>
        </p:blipFill>
        <p:spPr>
          <a:xfrm xmlns:a="http://schemas.openxmlformats.org/drawingml/2006/main">
            <a:off x="1123216" y="1905000"/>
            <a:ext cx="9945568" cy="304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657EB-29F0-4026-8135-E9B8A834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Intensidad y precio implícito con log1p. Continuidad sin transformar.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03DCA-7CFC-4000-B0DB-63A3EBD5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X = StandardScaler().fit_transform(datos)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KMeans(n_clusters=4, random_state=42, n_init=20).fit(X)</a:t>
            </a:r>
          </a:p>
        </p:txBody>
      </p:sp>
    </p:spTree>
    <p:extLst>
      <p:ext uri="{BB962C8B-B14F-4D97-AF65-F5344CB8AC3E}">
        <p14:creationId xmlns:p14="http://schemas.microsoft.com/office/powerpoint/2010/main" val="12660053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B7639-BFB0-43A6-8B7C-A07119CD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Intensidad y continuidad de los productos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58801-45BC-4B43-BAB6-86254422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Las semanas con registro describen presencia en la base, sin acreditar disponibilidad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40D3F-113E-42B6-8328-5902C706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5E6B8-7EF1-4B05-8101-3C01C0D7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BE952-FD24-4A23-8AD7-78FFEC7B83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c713827cb44a6"/>
          <a:stretch xmlns:a="http://schemas.openxmlformats.org/drawingml/2006/main"/>
        </p:blipFill>
        <p:spPr>
          <a:xfrm xmlns:a="http://schemas.openxmlformats.org/drawingml/2006/main">
            <a:off x="1770649" y="1857375"/>
            <a:ext cx="8650702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E11AA-D75E-42D2-979A-705468B2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2 productos tienen silueta negativa y requieren revisión individual. El precio implícito no equivale a margen.</a:t>
            </a:r>
          </a:p>
        </p:txBody>
      </p:sp>
    </p:spTree>
    <p:extLst>
      <p:ext uri="{BB962C8B-B14F-4D97-AF65-F5344CB8AC3E}">
        <p14:creationId xmlns:p14="http://schemas.microsoft.com/office/powerpoint/2010/main" val="5125185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08F65-3DD7-4BE4-A11E-978469B9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Segmentos y acción comercial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8A855-250E-4C25-BACE-F1D35766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Participación sobre el valor de los 76 productos incluidos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AEE54-7043-4B25-A363-07D055E7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FFC3E-2F3A-4BF6-8880-6435CAAD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294D5-03AE-4F69-B1A5-A5A3B7E1410C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952500"/>
                <a:gridCol w="1333500"/>
                <a:gridCol w="5353050"/>
              </a:tblGrid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Perfil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SKU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Valor 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Acción propuesta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ALTA ROTACION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50.81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Asegurar disponibilidad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ALTO VALOR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48.17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Revisar surtido y margen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BAJA ROTACION ESTABLE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1.01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Evaluar productividad por SKU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PRESENCIA MARGINAL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Comprobar cobertura y vigencia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84A66-8947-4465-BB8C-4026187E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Alta rotación y alto valor concentran aproximadamente 99% de las ventas de Vanish incluidas. La evidencia no acredita rentabilidad.</a:t>
            </a:r>
          </a:p>
        </p:txBody>
      </p:sp>
    </p:spTree>
    <p:extLst>
      <p:ext uri="{BB962C8B-B14F-4D97-AF65-F5344CB8AC3E}">
        <p14:creationId xmlns:p14="http://schemas.microsoft.com/office/powerpoint/2010/main" val="14126663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B9E20-461E-4D1A-BC9B-D9976243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SQL Server: base relacional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A5587-5E5D-4005-9B02-EDCC7093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Capturas originales del entregable 4, con base, tablas y consultas ejecutadas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938BC-591E-4731-828C-CB549D2A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7E97E-6F99-4979-A623-B7DC1CAB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971A1-0CD1-44F6-89CB-1D4CCDDFE4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c16babf0b425c"/>
          <a:stretch xmlns:a="http://schemas.openxmlformats.org/drawingml/2006/main"/>
        </p:blipFill>
        <p:spPr>
          <a:xfrm xmlns:a="http://schemas.openxmlformats.org/drawingml/2006/main">
            <a:off x="609600" y="1896508"/>
            <a:ext cx="5286375" cy="3207858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7138A-5C3E-446B-8555-5E712F3918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ddf8378624aab"/>
          <a:stretch xmlns:a="http://schemas.openxmlformats.org/drawingml/2006/main"/>
        </p:blipFill>
        <p:spPr>
          <a:xfrm xmlns:a="http://schemas.openxmlformats.org/drawingml/2006/main">
            <a:off x="6244100" y="1857375"/>
            <a:ext cx="5285450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3E65A-18B7-4235-A65B-18D42C7B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DIM_CATEGORY, DIM_PRODUCT, DIM_SEGMENT y DIM_CALENDAR contextualizan FACT_SALES. El paquete incluye el esquema y nueve consultas reproducibles.</a:t>
            </a:r>
          </a:p>
        </p:txBody>
      </p:sp>
    </p:spTree>
    <p:extLst>
      <p:ext uri="{BB962C8B-B14F-4D97-AF65-F5344CB8AC3E}">
        <p14:creationId xmlns:p14="http://schemas.microsoft.com/office/powerpoint/2010/main" val="6707798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C2C4D-3D10-4259-952F-1C988F1E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SQL: resultados por categoría y región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5B265-AEE1-421A-B142-C6EBEC47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El filtro regional define el universo correcto de cada consulta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87BAB-3E07-4CDD-809F-36EC2177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0A451-8CEB-4FB4-B5CA-3848ADCA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3D3AE-304A-4EA7-B7B0-DA80A4732F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10910cc0a4fc4"/>
          <a:stretch xmlns:a="http://schemas.openxmlformats.org/drawingml/2006/main"/>
        </p:blipFill>
        <p:spPr>
          <a:xfrm xmlns:a="http://schemas.openxmlformats.org/drawingml/2006/main">
            <a:off x="609600" y="2056423"/>
            <a:ext cx="5286375" cy="2078404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BF950-05DE-442A-B50A-234CF30229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2626235654f81"/>
          <a:stretch xmlns:a="http://schemas.openxmlformats.org/drawingml/2006/main"/>
        </p:blipFill>
        <p:spPr>
          <a:xfrm xmlns:a="http://schemas.openxmlformats.org/drawingml/2006/main">
            <a:off x="609600" y="4288258"/>
            <a:ext cx="5286375" cy="18533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AEBC1-9DBA-4496-97BB-054FB287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5238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SELECT REGION,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 SUM(TOTAL_VALUE_SALES) AS Valor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FROM dbo.FACT_SALES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WHERE REGION &lt;&gt;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 N'TOTAL AUTOS SCANNING MEXICO'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GROUP BY REGION</a:t>
            </a:r>
          </a:p>
          <a:p xmlns:a="http://schemas.openxmlformats.org/drawingml/2006/main">
            <a:pPr>
              <a:def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ORDER BY Valor DESC;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A9DA2-5312-400D-9426-A4A371A4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57750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3A7BD5"/>
                </a:solidFill>
                <a:latin typeface="DejaVu Sans"/>
                <a:ea typeface="DejaVu Sans"/>
                <a:cs typeface="DejaVu Sans"/>
              </a:rPr>
              <a:t>Las áreas 2, 5 y 6 lideran el valor. El total nacional permanece fuera del ranking regional.</a:t>
            </a:r>
          </a:p>
        </p:txBody>
      </p:sp>
    </p:spTree>
    <p:extLst>
      <p:ext uri="{BB962C8B-B14F-4D97-AF65-F5344CB8AC3E}">
        <p14:creationId xmlns:p14="http://schemas.microsoft.com/office/powerpoint/2010/main" val="18042191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5ED75-7C48-47E9-9A98-0230A1F8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Power BI: resumen nacional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8B264-61EC-4833-B9B4-05B4F8DB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Captura real del informe con indicadores, tendencia y ranking por marca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D4EC5-693C-431B-97E9-CE80E5D1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596FC-5F13-4708-BE2B-44AD112A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AABFB-CE45-4FD7-8492-110F6D0F45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c125acabc44f2"/>
          <a:stretch xmlns:a="http://schemas.openxmlformats.org/drawingml/2006/main"/>
        </p:blipFill>
        <p:spPr>
          <a:xfrm xmlns:a="http://schemas.openxmlformats.org/drawingml/2006/main">
            <a:off x="2952089" y="1762125"/>
            <a:ext cx="6287822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4239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7607E-479C-4CD0-BD52-F04C253C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Power BI: productos, segmentos y áreas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A2EA2-C2CD-48B3-89A1-02FE9446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Segmentadores de fecha, región, marca, atributo y categoría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18FB2-B141-42FA-9641-4373B0A9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4EAEF-6DB9-4408-A212-8293D270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5B620-C443-4288-94A3-9EA8B30FEB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2bd0f76b54d54"/>
          <a:stretch xmlns:a="http://schemas.openxmlformats.org/drawingml/2006/main"/>
        </p:blipFill>
        <p:spPr>
          <a:xfrm xmlns:a="http://schemas.openxmlformats.org/drawingml/2006/main">
            <a:off x="2952089" y="1762125"/>
            <a:ext cx="6287822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28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1B383-8599-4C77-86F5-8375176A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Geografía ilustrativa y estado del mapa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D47F1-9085-4A4D-894A-22C1BBAE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La fuente aporta áreas comerciales, sin correspondencia documentada con estados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FCAF4-E305-4A1A-8BC7-1FB293CA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65577-964E-4736-9CEE-033CB23E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E13F4-7F53-4BA4-85CA-11CE83AE8A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a65a0583347ca"/>
          <a:stretch xmlns:a="http://schemas.openxmlformats.org/drawingml/2006/main"/>
        </p:blipFill>
        <p:spPr>
          <a:xfrm xmlns:a="http://schemas.openxmlformats.org/drawingml/2006/main">
            <a:off x="1093544" y="1905000"/>
            <a:ext cx="5604363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A9AA7-AE8F-4A0E-BD38-F77C8AEE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905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La asignación a seis estados sirve únicamente al ejercicio.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La captura muestra el bloqueo del servicio de mapas.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Los hallazgos usan áreas originales. La publicación no tiene enlace confirmado.</a:t>
            </a:r>
          </a:p>
        </p:txBody>
      </p:sp>
    </p:spTree>
    <p:extLst>
      <p:ext uri="{BB962C8B-B14F-4D97-AF65-F5344CB8AC3E}">
        <p14:creationId xmlns:p14="http://schemas.microsoft.com/office/powerpoint/2010/main" val="9691051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3D123-F0C8-4EE5-9F95-4C8EED01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Validación cronológica del pronóstico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18A99-5399-4D9E-A9F6-6CC55BAA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Selección por MAE antes de abrir las últimas 12 semanas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25EBE-A21F-4065-9ED6-AF053574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E8982-AF55-477B-80F6-510BFB5F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24829-5A65-4319-A6EE-268C264BD75F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905000"/>
                <a:gridCol w="5734050"/>
              </a:tblGrid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Etapa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Semanas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Entrenamiento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a 56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Ajustar candidatos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57 a 68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Elegir método y orden ARIMA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Prueba final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69 a 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Medir desempeño independiente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Reentrenamiento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a 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Pronosticar 15 semanas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7C10D-C8CB-4527-AB48-5C2F8DCD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Candidatos: regresión múltiple, 16 órdenes ARIMA y dos referencias simples. Los ajustes que no convergen quedan descartados.</a:t>
            </a:r>
          </a:p>
        </p:txBody>
      </p:sp>
    </p:spTree>
    <p:extLst>
      <p:ext uri="{BB962C8B-B14F-4D97-AF65-F5344CB8AC3E}">
        <p14:creationId xmlns:p14="http://schemas.microsoft.com/office/powerpoint/2010/main" val="9196129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305E0-6856-4A8E-A1A9-BB058CA4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Regresión múltiple y ARIMA en Python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A58E2-A555-4A6F-9300-15369C62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Mismo horizonte de comparación y variables conocidas al pronosticar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03A8A-ECBE-42B2-9138-5A331CD8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198B8-9A3B-4F0E-83F1-3D35D249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E79B2-07BE-4089-81ED-A1872DBF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rPr>
              <a:t>Regresión lineal múltiple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77859-F9C0-4968-942F-FE89FAD1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X = [t/52,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     sin(2*pi*t/52),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     cos(2*pi*t/52)]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fit = LinearRegression().fit(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    X_train, y_train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pred = fit.predict(X_future)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EEAED-DFFC-4EAB-8F2E-4130AC41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3A7BD5"/>
                </a:solidFill>
                <a:latin typeface="DejaVu Sans"/>
                <a:ea typeface="DejaVu Sans"/>
                <a:cs typeface="DejaVu Sans"/>
              </a:rPr>
              <a:t>Series de tiempo ARIMA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6C6A8-AF6B-403F-A692-7C16897C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fit = ARIMA(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    y_train, order=(p,d,q),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    trend='c' if d==0 else 'n'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).fit()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pred = fit.forecast(12)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MAE = mean(abs(real - pred))</a:t>
            </a:r>
          </a:p>
          <a:p xmlns:a="http://schemas.openxmlformats.org/drawingml/2006/main">
            <a:pPr>
              <a:def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263238"/>
                </a:solidFill>
                <a:latin typeface="DejaVu Sans Mono"/>
                <a:ea typeface="DejaVu Sans Mono"/>
                <a:cs typeface="DejaVu Sans Mono"/>
              </a:rPr>
              <a:t>MSE = mean((real - pred)**2)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68970-B8C3-46BF-A6AE-32400575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La regresión prueba términos anuales con poco histórico. No incorpora precios o promociones futuras.</a:t>
            </a:r>
          </a:p>
        </p:txBody>
      </p:sp>
    </p:spTree>
    <p:extLst>
      <p:ext uri="{BB962C8B-B14F-4D97-AF65-F5344CB8AC3E}">
        <p14:creationId xmlns:p14="http://schemas.microsoft.com/office/powerpoint/2010/main" val="9701581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F0EBA-E16E-476A-A4E5-0290688A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VANISH: error en las 12 semanas de prueba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FE2CE-C56C-4E41-976C-11A2E778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Método fijado en validación: ARIMA(1, 0, 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9F55F-0023-418C-ADBE-CE010269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6DF02-DB4B-487E-9343-B53015DF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8A129-40F0-4DB9-9F11-D5391CDB0961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1666875"/>
                <a:gridCol w="2190750"/>
                <a:gridCol w="1809750"/>
                <a:gridCol w="1828800"/>
              </a:tblGrid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RMSE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MAPE 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Ultima semana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2,299.0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8,074,241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2,841.5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13.9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Media 4 semanas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1,890.8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6,111,683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2,472.2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Regresión múltiple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1,166.7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3,158,389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1,777.2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ARIMA(1, 0, 2)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2,130.9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7,237,144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2,690.2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12.9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F8C18-9ECA-46F8-9601-4A305B14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rPr>
              <a:t>La regresión logra menor error en prueba, aunque ARIMA ganó en validación. Esta inestabilidad exige evaluar nuevos cortes temporales.</a:t>
            </a:r>
          </a:p>
        </p:txBody>
      </p:sp>
    </p:spTree>
    <p:extLst>
      <p:ext uri="{BB962C8B-B14F-4D97-AF65-F5344CB8AC3E}">
        <p14:creationId xmlns:p14="http://schemas.microsoft.com/office/powerpoint/2010/main" val="5606411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ED4EF-4381-4BC9-A150-FD3264D5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LYSOL: error en las 12 semanas de prueba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10045-2F2D-40D6-9671-9FA76C96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Método fijado en validación: ARIMA(0, 1, 1)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33C9B-41B3-4F04-B8A9-1E85B834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659B7-D24E-40F6-8325-30643DD6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6BA62-A20C-47D5-B7EA-8F512C1109FB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1666875"/>
                <a:gridCol w="2190750"/>
                <a:gridCol w="1809750"/>
                <a:gridCol w="1828800"/>
              </a:tblGrid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RMSE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MAPE 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Ultima semana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28.6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Media 4 semanas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37.6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1,763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42.0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11.6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Regresión múltiple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182.7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35,281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187.8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54.0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ARIMA(0, 1, 1)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1,112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33.3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4F9C9-1D93-4979-A247-2AFF48AB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3A7BD5"/>
                </a:solidFill>
                <a:latin typeface="DejaVu Sans"/>
                <a:ea typeface="DejaVu Sans"/>
                <a:cs typeface="DejaVu Sans"/>
              </a:rPr>
              <a:t>La última semana iguala y supera ligeramente a ARIMA por MAE. El modelo complejo no acredita una ventaja operativa clara.</a:t>
            </a:r>
          </a:p>
        </p:txBody>
      </p:sp>
    </p:spTree>
    <p:extLst>
      <p:ext uri="{BB962C8B-B14F-4D97-AF65-F5344CB8AC3E}">
        <p14:creationId xmlns:p14="http://schemas.microsoft.com/office/powerpoint/2010/main" val="17676894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E25BD-5A1F-4D4F-9F99-EA840052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Observado y predicho en prueba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BD6FA-FDDA-4812-8F5F-7544C3FF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El corte cronológico permanece fuera del entrenamiento y de la selección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C9EFF-A486-40F3-BFC2-1D4C908E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B7F9C-3B6F-4FED-9269-2C03E908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65A64-FB36-45CF-A1F0-6C8A0C12E5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9104da9f6422b"/>
          <a:stretch xmlns:a="http://schemas.openxmlformats.org/drawingml/2006/main"/>
        </p:blipFill>
        <p:spPr>
          <a:xfrm xmlns:a="http://schemas.openxmlformats.org/drawingml/2006/main">
            <a:off x="2664135" y="1762125"/>
            <a:ext cx="6863730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40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72162-574D-4CAE-B83B-64E02D48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Pronóstico histórico hasta octubre de 2023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53676-B302-4D4B-A18C-CBFC62A9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15 semanas posteriores al último cierre disponible, el 17 de julio de 2023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93354-3FF5-4809-AFDB-7D1584B5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A5B8D-6F46-42FE-8470-810A571E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6C7FD-687C-4C00-8D34-2B472E8972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9fde0012d4530"/>
          <a:stretch xmlns:a="http://schemas.openxmlformats.org/drawingml/2006/main"/>
        </p:blipFill>
        <p:spPr>
          <a:xfrm xmlns:a="http://schemas.openxmlformats.org/drawingml/2006/main">
            <a:off x="2890412" y="1762125"/>
            <a:ext cx="6411177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41B98-CB22-49B4-AD37-583993BB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Rangos orientativos según 12 errores de prueba. No tienen cobertura garantizada y no crecen con el horizonte.</a:t>
            </a:r>
          </a:p>
        </p:txBody>
      </p:sp>
    </p:spTree>
    <p:extLst>
      <p:ext uri="{BB962C8B-B14F-4D97-AF65-F5344CB8AC3E}">
        <p14:creationId xmlns:p14="http://schemas.microsoft.com/office/powerpoint/2010/main" val="7228368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037E1-8F08-4F6D-B20B-58F10985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Totales pronosticados por mes de 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5720D-D428-4759-9383-6D938BE0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La cantidad de semanas explica parte de la diferencia entre totales mensuales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4EFC2-BB83-4229-9620-201E712A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809E4-CC92-4146-B208-AD332C32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75D50-C98C-4D74-9D33-7A1B7407F6C7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286000"/>
                <a:gridCol w="2962275"/>
                <a:gridCol w="2962275"/>
              </a:tblGrid>
              <a:tr h="607219"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Semanas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Vanish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Lysol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T w="9525">
                      <a:solidFill>
                        <a:srgbClr val="DCEEFF"/>
                      </a:solidFill>
                      <a:prstDash val="solid"/>
                    </a:lnT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3A7BD5"/>
                    </a:solidFill>
                  </a:tcPr>
                </a:tc>
              </a:tr>
              <a:tr h="607219"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2023-08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59,887.2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1,364.0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07219"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2023-09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58,981.3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1,364.0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2023-10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EFF"/>
                      </a:solidFill>
                      <a:prstDash val="solid"/>
                    </a:lnL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72,671.1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2632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1,705.0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EFF"/>
                      </a:solidFill>
                      <a:prstDash val="solid"/>
                    </a:lnR>
                    <a:lnB w="9525">
                      <a:solidFill>
                        <a:srgbClr val="DCEEF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78D9-590C-4794-9F7D-A1A5000F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Octubre agrupa cinco cierres semanales. Agosto y septiembre agrupan cuatro. Los totales representan la unidad original del valor de ventas.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523ED-B7FB-4042-B0FD-B20AD3AC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El notebook y los CSV incluyen las 15 semanas y los promedios semanales por mes.</a:t>
            </a:r>
          </a:p>
        </p:txBody>
      </p:sp>
    </p:spTree>
    <p:extLst>
      <p:ext uri="{BB962C8B-B14F-4D97-AF65-F5344CB8AC3E}">
        <p14:creationId xmlns:p14="http://schemas.microsoft.com/office/powerpoint/2010/main" val="21349771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42A74-E899-4468-846B-356114DE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Conclusiones y recomendaciones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FED92-0857-4286-B547-06E03E7D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Prioridades de negocio respaldadas por el análisis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07A7E-FDC6-4696-910A-37D1BED8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7423A-941E-45AC-A443-2A34ECED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8F23E-515D-45C5-AD3D-21C4E560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rPr>
              <a:t>Surtido y cobertura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C1A99-EDA0-4A7D-8B9B-ED32C9BB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048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Los 40 SKU de alta rotación y alto valor concentran casi 99% del valor Vanish segmentado. Priorizar disponibilidad y revisar margen por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Las áreas 2, 5 y 6 concentran la mayor participación. Investigar cobertura antes de atribuir diferencias a demanda.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32F78-1045-4511-89CC-42B499D9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rPr>
              <a:t>Pronóstico y siguientes pasos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0125F-F8FE-49A7-8C34-F5BE1D1D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52387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La prueba final muestra inestabilidad del ranking de modelos. Mantener referencias simples y ampliar la validación con origen móvil.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Incorporar inventarios, precios, promociones y costos. El pronóstico de valor requiere una conversión por SKU antes de planear pedidos.</a:t>
            </a:r>
          </a:p>
        </p:txBody>
      </p:sp>
    </p:spTree>
    <p:extLst>
      <p:ext uri="{BB962C8B-B14F-4D97-AF65-F5344CB8AC3E}">
        <p14:creationId xmlns:p14="http://schemas.microsoft.com/office/powerpoint/2010/main" val="20025572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0E983-C3F8-417B-BBF8-5EA8142C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Trazabilidad y alcance de la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63817-E722-446D-AA1E-0419A580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Material para revisar resultados y reproducir el análisis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3D259-FCB8-4831-88FE-478DA75C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Javier Bueno Sánchez  ·  Proyecto empresa aliada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9A53B-75E0-4216-846A-E59302EF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E7A89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C8766-369C-49CB-9A3D-549260BF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rPr>
              <a:t>Entrega técnica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0D2BD-9672-4C5D-B928-D42BB832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143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Notebook ejecutado con gráficos y explicaciones.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Datos originales y exportaciones limpias.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Consultas SQL Server y capturas originales.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PBIX y archivos CSV de métricas, clusters y pronóstico.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36044-C5D5-4D9E-8BAD-09B26780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3A7BD5"/>
                </a:solidFill>
                <a:latin typeface="DejaVu Sans"/>
                <a:ea typeface="DejaVu Sans"/>
                <a:cs typeface="DejaVu Sans"/>
              </a:rPr>
              <a:t>Límites que afectan la decisión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20BDF-890E-41AD-9042-D94C541A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5238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Histórico de 2022–2023 y unidad monetaria sin acreditar.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Una sola categoría con ventas y territorios estatales ilustrativos.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Mapa pendiente de servicio y publicación sin enlace confirmado.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238"/>
                </a:solidFill>
                <a:latin typeface="DejaVu Sans"/>
                <a:ea typeface="DejaVu Sans"/>
                <a:cs typeface="DejaVu Sans"/>
              </a:rPr>
              <a:t>Modelos sin evidencia suficiente para automatizar pedidos.</a:t>
            </a:r>
          </a:p>
        </p:txBody>
      </p:sp>
    </p:spTree>
    <p:extLst>
      <p:ext uri="{BB962C8B-B14F-4D97-AF65-F5344CB8AC3E}">
        <p14:creationId xmlns:p14="http://schemas.microsoft.com/office/powerpoint/2010/main" val="1709522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2026-10-18T18:17:02.2580000Z</dcterms:created>
  <dcterms:modified xsi:type="dcterms:W3CDTF">2026-10-18T18:17:02.2580000Z</dcterms:modified>
</coreProperties>
</file>